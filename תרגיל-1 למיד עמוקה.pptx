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9FF8C94-7492-4D9E-89F0-A9AF8F00EA0E}">
  <a:tblStyle styleId="{A9FF8C94-7492-4D9E-89F0-A9AF8F00EA0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0cc2ff7b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0cc2ff7b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0cc2ff7b2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0cc2ff7b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0cc2ff7b2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0cc2ff7b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0cc2ff7b2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0cc2ff7b2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0cc2ff7b2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0cc2ff7b2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0cc2ff7b2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0cc2ff7b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0cc2ff7b2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0cc2ff7b2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0cc2ff7b2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0cc2ff7b2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0cc2ff7b2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b0cc2ff7b2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0cc2ff7b2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b0cc2ff7b2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0cc2ff7b2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b0cc2ff7b2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0cc2ff7b2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b0cc2ff7b2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yuval-gabay/fastai_projecy_cartoonists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characterdesignreferences.com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סיווג סגנונות קריקטורה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יובל גבאי</a:t>
            </a:r>
            <a:endParaRPr/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 u="sng">
                <a:solidFill>
                  <a:schemeClr val="hlink"/>
                </a:solidFill>
                <a:hlinkClick r:id="rId3"/>
              </a:rPr>
              <a:t>קישור ל GITHUB</a:t>
            </a:r>
            <a:endParaRPr/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18.12.25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תיאור </a:t>
            </a:r>
            <a:r>
              <a:rPr lang="iw"/>
              <a:t>הפרויקט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w" sz="2200"/>
              <a:t>המוטיבציה האישית:</a:t>
            </a:r>
            <a:r>
              <a:rPr lang="iw" sz="2200"/>
              <a:t> הפרויקט נובע מאהבה גדולה לאמנות ואנימציה, ומהרצון להבין ולנתח את ה"טביעת אצבע" האמנותית של יוצרים דיגיטליים באמצעות בינה </a:t>
            </a:r>
            <a:r>
              <a:rPr lang="iw" sz="2200"/>
              <a:t>מלאכותית</a:t>
            </a:r>
            <a:endParaRPr sz="2200"/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rPr b="1" lang="iw" sz="2200"/>
              <a:t>הבעיה שפתרנו:</a:t>
            </a:r>
            <a:r>
              <a:rPr lang="iw" sz="2200"/>
              <a:t> פיתוח מודל למידה עמוקה המסוגל לזהות ולסווג אוטומטית סגנונות אמנותיים מובהקים.</a:t>
            </a:r>
            <a:r>
              <a:rPr lang="iw" sz="2200"/>
              <a:t> </a:t>
            </a:r>
            <a:endParaRPr sz="2200"/>
          </a:p>
          <a:p>
            <a:pPr indent="0" lvl="0" marL="0" rtl="1" algn="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iw" sz="2200"/>
              <a:t>האתגר המרכזי:</a:t>
            </a:r>
            <a:r>
              <a:rPr lang="iw" sz="2200"/>
              <a:t> איך גורמים למחשב להבחין בין שני סגנונות דומים מאוד, כאשר עין אנושית מתקשה?</a:t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הקלאסים סגנונות ייחודיים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* </a:t>
            </a:r>
            <a:r>
              <a:rPr b="1" lang="iw"/>
              <a:t>Bruce Timm:</a:t>
            </a:r>
            <a:r>
              <a:rPr lang="iw"/>
              <a:t> המאסטר של סגנון ה"נואר" הקווי. מאפיינים: קווי מתאר חזקים, שימוש מסיבי בצלליות בלוק (Block Shadows). עבודות מפורסמות: באטמן: הסדרה המצוירת, ליגת הצדק.</a:t>
            </a:r>
            <a:endParaRPr/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rPr lang="iw"/>
              <a:t>* </a:t>
            </a:r>
            <a:r>
              <a:rPr b="1" lang="iw"/>
              <a:t>Genndy Tartakovsky:</a:t>
            </a:r>
            <a:r>
              <a:rPr lang="iw"/>
              <a:t> סגנון מינימליסטי ואנגולרי. מאפיינים: קווים זורמים, מינימליזם קיצוני, דגש על אווירה ושימוש מצומצם בהצללה. עבודות מפורסמות: סמוראי ג'ק, מלחמת הכוכבים: מלחמות המשובטים.</a:t>
            </a:r>
            <a:endParaRPr/>
          </a:p>
          <a:p>
            <a:pPr indent="0" lvl="0" marL="0" rtl="1" algn="r">
              <a:spcBef>
                <a:spcPts val="1200"/>
              </a:spcBef>
              <a:spcAft>
                <a:spcPts val="1200"/>
              </a:spcAft>
              <a:buNone/>
            </a:pPr>
            <a:r>
              <a:rPr lang="iw"/>
              <a:t>* </a:t>
            </a:r>
            <a:r>
              <a:rPr b="1" lang="iw"/>
              <a:t>Pendleton Ward:</a:t>
            </a:r>
            <a:r>
              <a:rPr lang="iw"/>
              <a:t> הסגנון הגאומטרי והשטוח. מאפיינים: צורות פשוטות, עיצובים קוביים, וצבעים בהירים. עבודות מפורסמות: זמן הרפתקאות.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 איסוף הכנת הנתונים 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w" sz="2200"/>
              <a:t>בניית דאטה סט:</a:t>
            </a:r>
            <a:endParaRPr b="1" sz="2200"/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rPr lang="iw" sz="2200"/>
              <a:t>* </a:t>
            </a:r>
            <a:r>
              <a:rPr b="1" lang="iw" sz="2200"/>
              <a:t>מקורות</a:t>
            </a:r>
            <a:r>
              <a:rPr lang="iw" sz="2200"/>
              <a:t>: נעשה שימוש בחיפוש ממוקד ב-Pinterest, Google Images ובאתר המקצועי: </a:t>
            </a:r>
            <a:r>
              <a:rPr lang="iw" sz="2200" u="sng">
                <a:solidFill>
                  <a:schemeClr val="hlink"/>
                </a:solidFill>
                <a:hlinkClick r:id="rId3"/>
              </a:rPr>
              <a:t>characterdesignreferences.com</a:t>
            </a:r>
            <a:r>
              <a:rPr lang="iw" sz="2200"/>
              <a:t>.</a:t>
            </a:r>
            <a:endParaRPr sz="2200"/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rPr lang="iw" sz="2200"/>
              <a:t>* </a:t>
            </a:r>
            <a:r>
              <a:rPr b="1" lang="iw" sz="2200"/>
              <a:t>גודל סופי</a:t>
            </a:r>
            <a:r>
              <a:rPr lang="iw" sz="2200"/>
              <a:t>: סיבות 200 תמונות לכל קלאס (סך הכל כ-600 תמונות).</a:t>
            </a:r>
            <a:endParaRPr sz="2200"/>
          </a:p>
          <a:p>
            <a:pPr indent="0" lvl="0" marL="0" rtl="1" algn="r">
              <a:spcBef>
                <a:spcPts val="1200"/>
              </a:spcBef>
              <a:spcAft>
                <a:spcPts val="1200"/>
              </a:spcAft>
              <a:buNone/>
            </a:pPr>
            <a:r>
              <a:rPr lang="iw" sz="2200"/>
              <a:t>* </a:t>
            </a:r>
            <a:r>
              <a:rPr b="1" lang="iw" sz="2200"/>
              <a:t>הכנה</a:t>
            </a:r>
            <a:r>
              <a:rPr lang="iw" sz="2200"/>
              <a:t>: כל התמונות עברו קדם-עיבוד אוטומטי (שינוי לגודל  460X460 ,קובץ jpeg איכות 90, ומצב RGB) כדי להתאים לאימון.</a:t>
            </a:r>
            <a:endParaRPr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לימוד הנתונים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842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w" sz="2000"/>
              <a:t>מבנה</a:t>
            </a:r>
            <a:r>
              <a:rPr lang="iw" sz="2000"/>
              <a:t>: </a:t>
            </a:r>
            <a:r>
              <a:rPr lang="iw" sz="2000"/>
              <a:t>resnet 34</a:t>
            </a:r>
            <a:r>
              <a:rPr lang="iw" sz="2000"/>
              <a:t> שהוא מבנה </a:t>
            </a:r>
            <a:r>
              <a:rPr lang="iw" sz="2000"/>
              <a:t>פופולרי</a:t>
            </a:r>
            <a:r>
              <a:rPr lang="iw" sz="2000"/>
              <a:t> ויודעה בלימודי מכונה</a:t>
            </a:r>
            <a:endParaRPr sz="2000"/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rPr b="1" lang="iw" sz="2000"/>
              <a:t>מספר חזרות </a:t>
            </a:r>
            <a:r>
              <a:rPr lang="iw" sz="2000"/>
              <a:t>: 6 , היה 4 בניסיון הראשון אבל לא היה מספיק ו 8 לא גרם לשינוי ניכר </a:t>
            </a:r>
            <a:r>
              <a:rPr lang="iw" sz="2000"/>
              <a:t>בתוצאות</a:t>
            </a:r>
            <a:r>
              <a:rPr lang="iw" sz="2000"/>
              <a:t>.</a:t>
            </a:r>
            <a:endParaRPr sz="2000"/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rPr b="1" lang="iw" sz="2000"/>
              <a:t>אוגמנטציה של הדאטה</a:t>
            </a:r>
            <a:r>
              <a:rPr lang="iw" sz="2000"/>
              <a:t>: בכל סבב(או איפוק) אנחנו מספר פעמים נעשה זום </a:t>
            </a:r>
            <a:r>
              <a:rPr lang="iw" sz="2000"/>
              <a:t>ונסובב</a:t>
            </a:r>
            <a:r>
              <a:rPr lang="iw" sz="2000"/>
              <a:t> את התמונה התמונה ב</a:t>
            </a:r>
            <a:r>
              <a:rPr lang="iw" sz="2000"/>
              <a:t>א</a:t>
            </a:r>
            <a:r>
              <a:rPr lang="iw" sz="2000"/>
              <a:t>ופן רנדומלי (.</a:t>
            </a:r>
            <a:r>
              <a:rPr lang="iw" sz="2000"/>
              <a:t>min_scale=</a:t>
            </a:r>
            <a:r>
              <a:rPr lang="iw" sz="2000"/>
              <a:t>0.6,</a:t>
            </a:r>
            <a:r>
              <a:rPr lang="iw" sz="2000"/>
              <a:t>max_warp=0.</a:t>
            </a:r>
            <a:r>
              <a:rPr lang="iw" sz="2000"/>
              <a:t>2</a:t>
            </a:r>
            <a:r>
              <a:rPr lang="iw" sz="2000"/>
              <a:t>, max_rotate=25.0)</a:t>
            </a:r>
            <a:endParaRPr sz="2000"/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rPr b="1" lang="iw" sz="2000"/>
              <a:t>סיבה</a:t>
            </a:r>
            <a:r>
              <a:rPr lang="iw" sz="2000"/>
              <a:t>: בשביל שהמודל </a:t>
            </a:r>
            <a:r>
              <a:rPr lang="iw" sz="2000"/>
              <a:t>מתמקד</a:t>
            </a:r>
            <a:r>
              <a:rPr lang="iw" sz="2000"/>
              <a:t> בסגנון הציור של </a:t>
            </a:r>
            <a:r>
              <a:rPr lang="iw" sz="2000"/>
              <a:t>האמן</a:t>
            </a:r>
            <a:r>
              <a:rPr lang="iw" sz="2000"/>
              <a:t>(עובי העט,</a:t>
            </a:r>
            <a:r>
              <a:rPr lang="iw" sz="2000"/>
              <a:t>העיניים</a:t>
            </a:r>
            <a:r>
              <a:rPr lang="iw" sz="2000"/>
              <a:t> , הצללים , הצבעים) ולא בה תלות מרחבית(איפה כל דמות עומדת ברקע)</a:t>
            </a:r>
            <a:endParaRPr sz="2000"/>
          </a:p>
          <a:p>
            <a:pPr indent="0" lvl="0" marL="0" rtl="1" algn="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WORKFLOW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84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rPr lang="iw"/>
              <a:t>ירוק:קוד . צהוב: ה AI . סגול: דאטה</a:t>
            </a:r>
            <a:endParaRPr/>
          </a:p>
          <a:p>
            <a:pPr indent="0" lvl="0" marL="0" rtl="1" algn="r">
              <a:spcBef>
                <a:spcPts val="1200"/>
              </a:spcBef>
              <a:spcAft>
                <a:spcPts val="1200"/>
              </a:spcAft>
              <a:buNone/>
            </a:pPr>
            <a:r>
              <a:rPr lang="iw"/>
              <a:t>חץ אדום: סדר פעולות , חץ תכלת : מזין מה קובץ</a:t>
            </a:r>
            <a:endParaRPr/>
          </a:p>
        </p:txBody>
      </p:sp>
      <p:sp>
        <p:nvSpPr>
          <p:cNvPr id="86" name="Google Shape;86;p18"/>
          <p:cNvSpPr/>
          <p:nvPr/>
        </p:nvSpPr>
        <p:spPr>
          <a:xfrm>
            <a:off x="602600" y="1438475"/>
            <a:ext cx="1438500" cy="972000"/>
          </a:xfrm>
          <a:prstGeom prst="roundRect">
            <a:avLst>
              <a:gd fmla="val 16667" name="adj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download_combined</a:t>
            </a:r>
            <a:endParaRPr/>
          </a:p>
        </p:txBody>
      </p:sp>
      <p:sp>
        <p:nvSpPr>
          <p:cNvPr id="87" name="Google Shape;87;p18"/>
          <p:cNvSpPr/>
          <p:nvPr/>
        </p:nvSpPr>
        <p:spPr>
          <a:xfrm>
            <a:off x="2776625" y="1438475"/>
            <a:ext cx="1438500" cy="972000"/>
          </a:xfrm>
          <a:prstGeom prst="roundRect">
            <a:avLst>
              <a:gd fmla="val 16667" name="adj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preprocess_data</a:t>
            </a:r>
            <a:endParaRPr/>
          </a:p>
        </p:txBody>
      </p:sp>
      <p:sp>
        <p:nvSpPr>
          <p:cNvPr id="88" name="Google Shape;88;p18"/>
          <p:cNvSpPr/>
          <p:nvPr/>
        </p:nvSpPr>
        <p:spPr>
          <a:xfrm>
            <a:off x="4950650" y="1438475"/>
            <a:ext cx="1438500" cy="972000"/>
          </a:xfrm>
          <a:prstGeom prst="roundRect">
            <a:avLst>
              <a:gd fmla="val 16667" name="adj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training_data</a:t>
            </a:r>
            <a:endParaRPr/>
          </a:p>
        </p:txBody>
      </p:sp>
      <p:sp>
        <p:nvSpPr>
          <p:cNvPr id="89" name="Google Shape;89;p18"/>
          <p:cNvSpPr/>
          <p:nvPr/>
        </p:nvSpPr>
        <p:spPr>
          <a:xfrm>
            <a:off x="6852550" y="1438475"/>
            <a:ext cx="1438500" cy="9720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cartoon-classifier.pkl</a:t>
            </a:r>
            <a:endParaRPr/>
          </a:p>
        </p:txBody>
      </p:sp>
      <p:sp>
        <p:nvSpPr>
          <p:cNvPr id="90" name="Google Shape;90;p18"/>
          <p:cNvSpPr/>
          <p:nvPr/>
        </p:nvSpPr>
        <p:spPr>
          <a:xfrm>
            <a:off x="2776625" y="3039450"/>
            <a:ext cx="1438500" cy="972000"/>
          </a:xfrm>
          <a:prstGeom prst="roundRect">
            <a:avLst>
              <a:gd fmla="val 16667" name="adj"/>
            </a:avLst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imageData</a:t>
            </a:r>
            <a:endParaRPr/>
          </a:p>
        </p:txBody>
      </p:sp>
      <p:sp>
        <p:nvSpPr>
          <p:cNvPr id="91" name="Google Shape;91;p18"/>
          <p:cNvSpPr/>
          <p:nvPr/>
        </p:nvSpPr>
        <p:spPr>
          <a:xfrm>
            <a:off x="5844825" y="3039450"/>
            <a:ext cx="1438500" cy="972000"/>
          </a:xfrm>
          <a:prstGeom prst="roundRect">
            <a:avLst>
              <a:gd fmla="val 16667" name="adj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evaluation</a:t>
            </a:r>
            <a:endParaRPr/>
          </a:p>
        </p:txBody>
      </p:sp>
      <p:sp>
        <p:nvSpPr>
          <p:cNvPr id="92" name="Google Shape;92;p18"/>
          <p:cNvSpPr/>
          <p:nvPr/>
        </p:nvSpPr>
        <p:spPr>
          <a:xfrm>
            <a:off x="2050813" y="1775225"/>
            <a:ext cx="716100" cy="29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8"/>
          <p:cNvSpPr/>
          <p:nvPr/>
        </p:nvSpPr>
        <p:spPr>
          <a:xfrm>
            <a:off x="4224813" y="1775225"/>
            <a:ext cx="716100" cy="29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8"/>
          <p:cNvSpPr/>
          <p:nvPr/>
        </p:nvSpPr>
        <p:spPr>
          <a:xfrm>
            <a:off x="6206013" y="1775225"/>
            <a:ext cx="716100" cy="29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/>
          <p:nvPr/>
        </p:nvSpPr>
        <p:spPr>
          <a:xfrm rot="1950912">
            <a:off x="1159954" y="2724891"/>
            <a:ext cx="1797690" cy="298518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8"/>
          <p:cNvSpPr/>
          <p:nvPr/>
        </p:nvSpPr>
        <p:spPr>
          <a:xfrm rot="-2287532">
            <a:off x="4028975" y="2591655"/>
            <a:ext cx="1432004" cy="298694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8"/>
          <p:cNvSpPr/>
          <p:nvPr/>
        </p:nvSpPr>
        <p:spPr>
          <a:xfrm rot="-5400000">
            <a:off x="2918875" y="2591749"/>
            <a:ext cx="777300" cy="2985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8"/>
          <p:cNvSpPr/>
          <p:nvPr/>
        </p:nvSpPr>
        <p:spPr>
          <a:xfrm rot="-2254627">
            <a:off x="6816015" y="2591689"/>
            <a:ext cx="1229854" cy="298642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/>
          <p:nvPr/>
        </p:nvSpPr>
        <p:spPr>
          <a:xfrm rot="5400000">
            <a:off x="3478650" y="2591749"/>
            <a:ext cx="777300" cy="2985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בעיות אתגרים ופתרונות</a:t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w" sz="1600">
                <a:solidFill>
                  <a:schemeClr val="dk1"/>
                </a:solidFill>
              </a:rPr>
              <a:t>הבעייה:</a:t>
            </a:r>
            <a:r>
              <a:rPr lang="iw" sz="1600">
                <a:solidFill>
                  <a:schemeClr val="dk1"/>
                </a:solidFill>
              </a:rPr>
              <a:t> נתקלנו בחסימה באוטומציה של גרידת הנתונים, שכן אתרים רבים מזהים ומנתקים תהליכים כאלה.</a:t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rPr b="1" lang="iw" sz="1600">
                <a:solidFill>
                  <a:schemeClr val="dk1"/>
                </a:solidFill>
              </a:rPr>
              <a:t>הפתרון:</a:t>
            </a:r>
            <a:r>
              <a:rPr lang="iw" sz="1600">
                <a:solidFill>
                  <a:schemeClr val="dk1"/>
                </a:solidFill>
              </a:rPr>
              <a:t> עברנו לאיסוף </a:t>
            </a:r>
            <a:r>
              <a:rPr b="1" lang="iw" sz="1600">
                <a:solidFill>
                  <a:schemeClr val="dk1"/>
                </a:solidFill>
              </a:rPr>
              <a:t>ידני וממוקד</a:t>
            </a:r>
            <a:r>
              <a:rPr lang="iw" sz="1600">
                <a:solidFill>
                  <a:schemeClr val="dk1"/>
                </a:solidFill>
              </a:rPr>
              <a:t> של הנתונים, מה שהבטיח איכות גבוהה יותר לכל תמונה.</a:t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rPr b="1" lang="iw" sz="1600">
                <a:solidFill>
                  <a:schemeClr val="dk1"/>
                </a:solidFill>
              </a:rPr>
              <a:t>הבעיה:</a:t>
            </a:r>
            <a:r>
              <a:rPr lang="iw" sz="1600">
                <a:solidFill>
                  <a:schemeClr val="dk1"/>
                </a:solidFill>
              </a:rPr>
              <a:t> הניסיון הרב של האמן יצר פרמוטציות רבות לסגנון לאורך השנים (מ-</a:t>
            </a:r>
            <a:r>
              <a:rPr i="1" lang="iw" sz="1600">
                <a:solidFill>
                  <a:schemeClr val="dk1"/>
                </a:solidFill>
              </a:rPr>
              <a:t>דקסטר</a:t>
            </a:r>
            <a:r>
              <a:rPr lang="iw" sz="1600">
                <a:solidFill>
                  <a:schemeClr val="dk1"/>
                </a:solidFill>
              </a:rPr>
              <a:t> עד </a:t>
            </a:r>
            <a:r>
              <a:rPr i="1" lang="iw" sz="1600">
                <a:solidFill>
                  <a:schemeClr val="dk1"/>
                </a:solidFill>
              </a:rPr>
              <a:t>סמוראי ג'ק</a:t>
            </a:r>
            <a:r>
              <a:rPr lang="iw" sz="1600">
                <a:solidFill>
                  <a:schemeClr val="dk1"/>
                </a:solidFill>
              </a:rPr>
              <a:t>), מה שיכול לבלבל את המודל.</a:t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rPr lang="iw" sz="1600">
                <a:solidFill>
                  <a:schemeClr val="dk1"/>
                </a:solidFill>
              </a:rPr>
              <a:t> </a:t>
            </a:r>
            <a:r>
              <a:rPr b="1" lang="iw" sz="1600">
                <a:solidFill>
                  <a:schemeClr val="dk1"/>
                </a:solidFill>
              </a:rPr>
              <a:t>הפתרון:</a:t>
            </a:r>
            <a:r>
              <a:rPr lang="iw" sz="1600">
                <a:solidFill>
                  <a:schemeClr val="dk1"/>
                </a:solidFill>
              </a:rPr>
              <a:t> הרחבה ממוקדת של גודל הנתונים ומיקוד באיסוף דוגמאות מייצגות לכל אחת מהתקופות.</a:t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rPr b="1" lang="iw" sz="1600">
                <a:solidFill>
                  <a:schemeClr val="dk1"/>
                </a:solidFill>
              </a:rPr>
              <a:t>הבעיה:</a:t>
            </a:r>
            <a:r>
              <a:rPr lang="iw" sz="1600">
                <a:solidFill>
                  <a:schemeClr val="dk1"/>
                </a:solidFill>
              </a:rPr>
              <a:t> טימס נוטה לצייר גיבורי-על, ובעיקר דמויות נשיות (כמו Batgirl, Wonder Woman). הטיה זו עלולה ללמד את המודל "דמות נשית = טימס".</a:t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1200"/>
              </a:spcBef>
              <a:spcAft>
                <a:spcPts val="1200"/>
              </a:spcAft>
              <a:buNone/>
            </a:pPr>
            <a:r>
              <a:rPr lang="iw" sz="1600">
                <a:solidFill>
                  <a:schemeClr val="dk1"/>
                </a:solidFill>
              </a:rPr>
              <a:t> </a:t>
            </a:r>
            <a:r>
              <a:rPr b="1" lang="iw" sz="1600">
                <a:solidFill>
                  <a:schemeClr val="dk1"/>
                </a:solidFill>
              </a:rPr>
              <a:t>הפתרון:</a:t>
            </a:r>
            <a:r>
              <a:rPr lang="iw" sz="1600">
                <a:solidFill>
                  <a:schemeClr val="dk1"/>
                </a:solidFill>
              </a:rPr>
              <a:t> בחירה ממוקדת של דאטה שכלל ייצוג מאוזן יותר של דמויות גברים ונשים בכל אחד מהסגנונות.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תוצאות האימון</a:t>
            </a:r>
            <a:endParaRPr/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.</a:t>
            </a:r>
            <a:endParaRPr/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rPr b="1" lang="iw">
                <a:solidFill>
                  <a:schemeClr val="dk1"/>
                </a:solidFill>
              </a:rPr>
              <a:t>מסקנה:</a:t>
            </a:r>
            <a:r>
              <a:rPr lang="iw">
                <a:solidFill>
                  <a:schemeClr val="dk1"/>
                </a:solidFill>
              </a:rPr>
              <a:t> המודל הגיע לדיוק סופי של </a:t>
            </a:r>
            <a:r>
              <a:rPr b="1" lang="iw">
                <a:solidFill>
                  <a:schemeClr val="dk1"/>
                </a:solidFill>
              </a:rPr>
              <a:t>87.76%</a:t>
            </a:r>
            <a:r>
              <a:rPr lang="iw">
                <a:solidFill>
                  <a:schemeClr val="dk1"/>
                </a:solidFill>
              </a:rPr>
              <a:t> בסוף Epoch 5.</a:t>
            </a:r>
            <a:endParaRPr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rPr b="1" lang="iw" sz="1908">
                <a:solidFill>
                  <a:schemeClr val="dk1"/>
                </a:solidFill>
              </a:rPr>
              <a:t>הפתעה</a:t>
            </a:r>
            <a:r>
              <a:rPr lang="iw">
                <a:solidFill>
                  <a:schemeClr val="dk1"/>
                </a:solidFill>
              </a:rPr>
              <a:t>: היחס ה V/S הכי טוב שהיה לנו היה ב Epoch 2</a:t>
            </a:r>
            <a:endParaRPr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112" name="Google Shape;112;p20"/>
          <p:cNvGraphicFramePr/>
          <p:nvPr/>
        </p:nvGraphicFramePr>
        <p:xfrm>
          <a:off x="952500" y="123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{A9FF8C94-7492-4D9E-89F0-A9AF8F00EA0E}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"/>
                        <a:t>EPOCHS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"/>
                        <a:t>TRAIN/LOSS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"/>
                        <a:t>VALID/LOSS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"/>
                        <a:t>ERROR RATE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"/>
                        <a:t>ACCURACY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/>
                        <a:t>0.761030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/>
                        <a:t>0.590793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/>
                        <a:t>0.224490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/>
                        <a:t>77.55%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/>
                        <a:t>0.621841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/>
                        <a:t>0.531898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/>
                        <a:t>0.156463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/>
                        <a:t>84.36%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/>
                        <a:t>0.512231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"/>
                        <a:t>0.359175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/>
                        <a:t>0.142857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/>
                        <a:t>85.71%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/>
                        <a:t>0.419003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/>
                        <a:t>0.418312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/>
                        <a:t>0.142857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/>
                        <a:t>85.71%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/>
                        <a:t>0.314351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/>
                        <a:t>0.374322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/>
                        <a:t>0.136054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/>
                        <a:t>86.39%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/>
                        <a:t>0.263420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/>
                        <a:t>0.379284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"/>
                        <a:t>0.122449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/>
                        <a:t>87.76%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הערכת ביצועים, מטריצת בלבול</a:t>
            </a:r>
            <a:endParaRPr/>
          </a:p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1" title="confusion_matri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250" y="1197125"/>
            <a:ext cx="5143500" cy="390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iw"/>
              <a:t>מטריצת בלבול , מסקנות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w" sz="2200">
                <a:solidFill>
                  <a:schemeClr val="dk1"/>
                </a:solidFill>
              </a:rPr>
              <a:t>דיוק גבוה:</a:t>
            </a:r>
            <a:r>
              <a:rPr lang="iw" sz="2200">
                <a:solidFill>
                  <a:schemeClr val="dk1"/>
                </a:solidFill>
              </a:rPr>
              <a:t> המודל זיהה נכון </a:t>
            </a:r>
            <a:r>
              <a:rPr b="1" lang="iw" sz="2200">
                <a:solidFill>
                  <a:schemeClr val="dk1"/>
                </a:solidFill>
              </a:rPr>
              <a:t>61 מתוך 73</a:t>
            </a:r>
            <a:r>
              <a:rPr lang="iw" sz="2200">
                <a:solidFill>
                  <a:schemeClr val="dk1"/>
                </a:solidFill>
              </a:rPr>
              <a:t> תמונות של טרטקובסקי ו-</a:t>
            </a:r>
            <a:r>
              <a:rPr b="1" lang="iw" sz="2200">
                <a:solidFill>
                  <a:schemeClr val="dk1"/>
                </a:solidFill>
              </a:rPr>
              <a:t>30 מתוך 32</a:t>
            </a:r>
            <a:r>
              <a:rPr lang="iw" sz="2200">
                <a:solidFill>
                  <a:schemeClr val="dk1"/>
                </a:solidFill>
              </a:rPr>
              <a:t> תמונות של פנדלטון וורד.</a:t>
            </a:r>
            <a:endParaRPr sz="22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w" sz="2200">
                <a:solidFill>
                  <a:schemeClr val="dk1"/>
                </a:solidFill>
              </a:rPr>
              <a:t>חפיפה בין אמנים:</a:t>
            </a:r>
            <a:r>
              <a:rPr lang="iw" sz="2200">
                <a:solidFill>
                  <a:schemeClr val="dk1"/>
                </a:solidFill>
              </a:rPr>
              <a:t> רוב השגיאות התרחשו בין </a:t>
            </a:r>
            <a:r>
              <a:rPr b="1" lang="iw" sz="2200">
                <a:solidFill>
                  <a:schemeClr val="dk1"/>
                </a:solidFill>
              </a:rPr>
              <a:t>טרטקובסקי ופנדלטון</a:t>
            </a:r>
            <a:r>
              <a:rPr lang="iw" sz="2200">
                <a:solidFill>
                  <a:schemeClr val="dk1"/>
                </a:solidFill>
              </a:rPr>
              <a:t>, וכן בין </a:t>
            </a:r>
            <a:r>
              <a:rPr b="1" lang="iw" sz="2200">
                <a:solidFill>
                  <a:schemeClr val="dk1"/>
                </a:solidFill>
              </a:rPr>
              <a:t>טימס ופנדלטון</a:t>
            </a:r>
            <a:r>
              <a:rPr lang="iw" sz="2200">
                <a:solidFill>
                  <a:schemeClr val="dk1"/>
                </a:solidFill>
              </a:rPr>
              <a:t>.</a:t>
            </a:r>
            <a:endParaRPr sz="22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w" sz="2200">
                <a:solidFill>
                  <a:schemeClr val="dk1"/>
                </a:solidFill>
              </a:rPr>
              <a:t>תובנה מרכזית:</a:t>
            </a:r>
            <a:r>
              <a:rPr lang="iw" sz="2200">
                <a:solidFill>
                  <a:schemeClr val="dk1"/>
                </a:solidFill>
              </a:rPr>
              <a:t> למרות שהסגנון של פנדלטון וורד בדרך כלל מובחן, סקיצות מסוימות של דמויות מינימליסטיות חולקות דמיון גיאומטרי עם שני האמנים האחרים.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הערכת ביצועים ,הפסדים מובילים</a:t>
            </a:r>
            <a:endParaRPr/>
          </a:p>
        </p:txBody>
      </p: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23" title="top_loss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7825" y="1017725"/>
            <a:ext cx="5228350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iw"/>
              <a:t>הפסדים מובילים, מסקנות</a:t>
            </a:r>
            <a:endParaRPr/>
          </a:p>
        </p:txBody>
      </p:sp>
      <p:sp>
        <p:nvSpPr>
          <p:cNvPr id="138" name="Google Shape;13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w" sz="2100">
                <a:solidFill>
                  <a:schemeClr val="dk1"/>
                </a:solidFill>
              </a:rPr>
              <a:t>טעויות "בביטחון גבוה":</a:t>
            </a:r>
            <a:r>
              <a:rPr lang="iw" sz="2100">
                <a:solidFill>
                  <a:schemeClr val="dk1"/>
                </a:solidFill>
              </a:rPr>
              <a:t> מספר תמונות מציגות סבירות גבוהה (0.90+) לקלאס השגוי, מה שמעיד על דמיון סגנוני עמוק במקרים ספציפיים.</a:t>
            </a:r>
            <a:endParaRPr sz="21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w" sz="2100">
                <a:solidFill>
                  <a:schemeClr val="dk1"/>
                </a:solidFill>
              </a:rPr>
              <a:t>סקיצה מול תוצר סופי:</a:t>
            </a:r>
            <a:r>
              <a:rPr lang="iw" sz="2100">
                <a:solidFill>
                  <a:schemeClr val="dk1"/>
                </a:solidFill>
              </a:rPr>
              <a:t> סקיצות בשחור-לבן (כמו התמונה בצד שמאל למעלה) הן הקשות ביותר לסיווג מכיוון שחסרה בהן פלטת הצבעים האייקונית המגדירה כל אמן.</a:t>
            </a:r>
            <a:endParaRPr sz="21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w" sz="2100">
                <a:solidFill>
                  <a:schemeClr val="dk1"/>
                </a:solidFill>
              </a:rPr>
              <a:t>קומפוזיציות מורכבות:</a:t>
            </a:r>
            <a:r>
              <a:rPr lang="iw" sz="2100">
                <a:solidFill>
                  <a:schemeClr val="dk1"/>
                </a:solidFill>
              </a:rPr>
              <a:t> תמונות המכילות דמויות קטנות רבות או הצללת "נואר" חריגה (כמו התמונה של דרדוויל/טימס) גרמו להפסד (Loss) הגבוה ביותר, כיוון שהן חורגות מהמיקוד העיקרי של המודל באימון.</a:t>
            </a:r>
            <a:endParaRPr sz="21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סיכום ומה הלאה?</a:t>
            </a:r>
            <a:endParaRPr/>
          </a:p>
        </p:txBody>
      </p:sp>
      <p:sp>
        <p:nvSpPr>
          <p:cNvPr id="144" name="Google Shape;144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2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w"/>
              <a:t>ה</a:t>
            </a:r>
            <a:r>
              <a:rPr b="1" lang="iw" sz="5604"/>
              <a:t>ישגים: </a:t>
            </a:r>
            <a:r>
              <a:rPr lang="iw" sz="5604"/>
              <a:t>בניית Pipeline שלם שעבר בהצלחה איסוף נתונים, אימון (Transfer Learning), ו-Fine-Tuning, עם דיוק של 87.76%</a:t>
            </a:r>
            <a:endParaRPr sz="5604"/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rPr b="1" lang="iw" sz="5604"/>
              <a:t>צעדים עתידיים: </a:t>
            </a:r>
            <a:endParaRPr b="1" sz="5604"/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rPr lang="iw" sz="5604"/>
              <a:t>הרחבת הדאטה בייס בשביל לשפר את הזיהוי בין </a:t>
            </a:r>
            <a:r>
              <a:rPr lang="iw" sz="5604"/>
              <a:t>סגנונות</a:t>
            </a:r>
            <a:r>
              <a:rPr lang="iw" sz="5604"/>
              <a:t> ציור דומות בין </a:t>
            </a:r>
            <a:r>
              <a:rPr lang="iw" sz="5604"/>
              <a:t>אמנים</a:t>
            </a:r>
            <a:r>
              <a:rPr lang="iw" sz="5604"/>
              <a:t> שונים</a:t>
            </a:r>
            <a:endParaRPr sz="5604"/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rPr lang="iw" sz="5604"/>
              <a:t>הוספת עוד אמנים בשביל להרחיב את השימוש </a:t>
            </a:r>
            <a:endParaRPr sz="5604"/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